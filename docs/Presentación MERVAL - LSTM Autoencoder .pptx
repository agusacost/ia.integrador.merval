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FBE7B9-2CA0-48E3-8923-EECC0DC6478C}">
  <a:tblStyle styleId="{B2FBE7B9-2CA0-48E3-8923-EECC0DC647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09650" y="1724173"/>
            <a:ext cx="9001125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Detección de Anomalías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en el Mercado Financiero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09650" y="3377654"/>
            <a:ext cx="10610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Implementación de LSTM Autoencoders en el Índice MERVAL Argentino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09650" y="4314825"/>
            <a:ext cx="10610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Análisis No Supervisado (2019-2025)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09650" y="4747170"/>
            <a:ext cx="10610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Inteligencia Artificial - UNNE FaCENA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7620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Desafío del Mercado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95575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Inestabilidad Estructural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98675"/>
            <a:ext cx="49530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mercados emergentes, en particular el índice MERVAL, se caracterizan por una volatilidad extrema y cambios bruscos de tendencia derivados de shocks sociopolíticos y económicos.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016722"/>
            <a:ext cx="4953000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objetivo central de este estudio es identificar estos puntos de quiebre de forma automatizada y </a:t>
            </a:r>
            <a:r>
              <a:rPr b="1" i="0" lang="en-US" sz="15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supervisada</a:t>
            </a:r>
            <a:r>
              <a:rPr b="0" i="0" lang="en-US" sz="15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Se utiliza el error de reconstrucción de un modelo de *Deep Learning* para alertar sobre patrones que divergen de la "normalidad" del mercado.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2878"/>
            <a:ext cx="5238750" cy="3664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72878"/>
            <a:ext cx="5238750" cy="36645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90600" y="2453878"/>
            <a:ext cx="46605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Aprendizaje de Normalidad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90600" y="2996803"/>
            <a:ext cx="4438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 de Entrenamiento (2015-2017)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90600" y="3476773"/>
            <a:ext cx="44386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modelo se entrena exclusivamente con datos de un período macroeconómico considerado de menor disrupción. El autoencoder aprende la distribución y dinámica "normal" del mercado.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Crucial: El escalado (StandardScaler) se ajusta únicamente aquí para evitar el filtrado de información futura (Data Leakage).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800850" y="2453878"/>
            <a:ext cx="46605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Validación y Detección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800850" y="2996803"/>
            <a:ext cx="4438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 (2018) &amp; Test (2019-2025)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00850" y="3476773"/>
            <a:ext cx="44386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set de validación se utiliza para calibrar el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EarlyStopping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ajustar el umbral estadístico sin contaminar la muestra. Finalmente, el set de prueba contiene los eventos documentados; el modelo debe detectarlos infiriendo exclusivamente a partir de las desviaciones de lo aprendido.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Metodología: Partición de Datos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0896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30896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30896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4502646"/>
            <a:ext cx="3600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2019 &amp; 2023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4959846"/>
            <a:ext cx="34290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Eventos de shock electoral. Las PASO 2019 representaron una caída récord del 38% en una sola jornada bursátil.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381500" y="4502646"/>
            <a:ext cx="3600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Crisis COVID-19 (2020)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381500" y="4959846"/>
            <a:ext cx="34290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shock sistémico prolongado que alteró las dinámicas de volumen y correlación de los activos de forma sostenida.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191500" y="4502646"/>
            <a:ext cx="3600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Devaluación (Dic 2023)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91500" y="4959846"/>
            <a:ext cx="34290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Impacto del cambio de política monetaria post-electoral, reflejando un reajuste abrupto del 54% en el tipo de cambio oficial.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40421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1025" y="1940421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1940421"/>
            <a:ext cx="340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Eventos Históricos de Validación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837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1914971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 diseñada para capturar dependencias temporales complejas mediante puertas de retención de memoria (LSTM).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04850" y="281966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9625" y="2817762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Entrada: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Secuencias temporales de 30 días deslizantes, utilizando un vector de 8 variables.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04850" y="358910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3587204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Bottleneck (Latente):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encoder comprime la dimensionalidad a un estado oculto de 64 dimensiones.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04850" y="43585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4356645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Salida: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decoder intenta reconstruir la ventana de 30 días original.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04850" y="5127992"/>
            <a:ext cx="104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09625" y="5126087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Función Objetivo: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Error Absoluto Medio (MAE), seleccionado por su robustez frente a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outliers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financieros.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3837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LSTM Autoencoder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9588" y="5895537"/>
            <a:ext cx="5000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Optimizador: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Adam con tasa de aprendizaje por defecto (1e-3)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 flipH="1">
            <a:off x="715941" y="5890542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7103"/>
            <a:ext cx="3429000" cy="4636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87103"/>
            <a:ext cx="3429000" cy="4636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587103"/>
            <a:ext cx="3429000" cy="463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62025" y="2720578"/>
            <a:ext cx="27803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Volatilidad y Retornos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62025" y="3663553"/>
            <a:ext cx="2647950" cy="202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Más allá de retornos simples y continuos, se calculan dispersiones a 5 y 20 días. Destaca el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vol_ratio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que mide la agitación del activo relativo a la volatilidad general del índice MERVAL.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772025" y="2720578"/>
            <a:ext cx="27803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Sincronía de Mercado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772025" y="3663553"/>
            <a:ext cx="26479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característica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corr_30d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evalúa cómo se correlaciona el activo individual con los movimientos del mercado general a lo largo del último mes, captando contagios sistémicos.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582025" y="2720578"/>
            <a:ext cx="27803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Anomalías de Comportamiento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582025" y="3663553"/>
            <a:ext cx="264795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incorpora el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Z-score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precio respecto a su media móvil trimestral, además de anomalías en el volumen de transacciones frente a sus promedios recientes.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44303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2025" y="2044303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2025" y="2044303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Ingeniería de Atributos Financieros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99325" y="4877612"/>
            <a:ext cx="3257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3σ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314300" y="6239562"/>
            <a:ext cx="3257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UMBRAL DE CORTE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200650" y="2401788"/>
            <a:ext cx="674084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Determinación del Límite Operativo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200650" y="2944713"/>
            <a:ext cx="6419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ventana se clasifica como anómala si su MAE de reconstrucción supera el umbral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θ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Esta variable se define dinámicamente según el entrenamiento: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200650" y="4397424"/>
            <a:ext cx="6419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estudio demostró que un multiplicador de 3 (umbral de 0.875) ofrece el balance óptimo: filtra el ruido inherente a un mercado inestable, pero posee la sensibilidad para captar los cuatro macro-eventos históricos.</a:t>
            </a:r>
            <a:endParaRPr/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0650" y="3856000"/>
            <a:ext cx="2556867" cy="34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Límite de Decisión Estadística</a:t>
            </a:r>
            <a:endParaRPr/>
          </a:p>
        </p:txBody>
      </p:sp>
      <p:graphicFrame>
        <p:nvGraphicFramePr>
          <p:cNvPr id="180" name="Google Shape;180;p19"/>
          <p:cNvGraphicFramePr/>
          <p:nvPr/>
        </p:nvGraphicFramePr>
        <p:xfrm>
          <a:off x="399850" y="258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{B2FBE7B9-2CA0-48E3-8923-EECC0DC6478C}</a:tableStyleId>
              </a:tblPr>
              <a:tblGrid>
                <a:gridCol w="1133425"/>
                <a:gridCol w="1120125"/>
                <a:gridCol w="1120125"/>
                <a:gridCol w="1120125"/>
              </a:tblGrid>
              <a:tr h="59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σ_mult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b="1" lang="en-US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θ (MAE)</a:t>
                      </a:r>
                      <a:r>
                        <a:rPr lang="en-US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Anomalos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Observacion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6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0.77802 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724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Lato"/>
                          <a:ea typeface="Lato"/>
                          <a:cs typeface="Lato"/>
                          <a:sym typeface="Lato"/>
                        </a:rPr>
                        <a:t>Alta sensibilidad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</a:tr>
              <a:tr h="4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0.87476 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441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Lato"/>
                          <a:ea typeface="Lato"/>
                          <a:cs typeface="Lato"/>
                          <a:sym typeface="Lato"/>
                        </a:rPr>
                        <a:t>Balance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</a:tr>
              <a:tr h="6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0.97150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304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Lato"/>
                          <a:ea typeface="Lato"/>
                          <a:cs typeface="Lato"/>
                          <a:sym typeface="Lato"/>
                        </a:rPr>
                        <a:t>Especifico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BAD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3116"/>
            <a:ext cx="11049000" cy="508426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5725566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mecanismo de EarlyStopping detuvo el aprendizaje en la época 15. La brecha estructural entre ambas curvas refleja las fuertes tensiones cambiarias ya presentes en el año de validación (2018).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410616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Convergencia y Error (Entrenamiento)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5044529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Todos los eventos superaron el umbral estadístico de 0.875 MAE. Las elecciones PASO de 2019 registraron el pico de anomalía más severo, congruente con la reacción histórica del mercado.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Magnitud del Error de Reconstrucción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6690"/>
            <a:ext cx="5238750" cy="3616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96690"/>
            <a:ext cx="5238750" cy="361696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990600" y="2477690"/>
            <a:ext cx="46605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Modelo: Solo Retornos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990600" y="3020615"/>
            <a:ext cx="44386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entrenar la red LSTM usando únicamente retornos simples y logarítmicos, el error de reconstrucción muestra una enorme varianza basal.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990600" y="4031902"/>
            <a:ext cx="44386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 señal "ruidosa" eleva artificialmente el umbral requerido (~1.25), lo que genera falsos negativos y dificulta la discriminación clara de las crisis reales frente a la volatilidad diaria.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800850" y="2477690"/>
            <a:ext cx="46605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Modelo: 8 Features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800850" y="3020615"/>
            <a:ext cx="44386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incorporación de indicadores estructurados contextualiza el movimiento del precio. El error basal se estabiliza, resultando en un umbral más exacto (~0.875).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800850" y="4321373"/>
            <a:ext cx="44386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picos de anomalía en el gráfico de inferencia se presentan más nítidos y temporalmente concentrados en los días exactos de los eventos documentados.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Impacto de las Variables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1809750" y="2328862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Validación de la Hipótesis No Supervisada: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modelo aprendió con éxito la topología "normal" y pudo identificar fallos estructurales a posteriori, omitiendo la necesidad de un costoso etiquetado manual previo.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809750" y="3176587"/>
            <a:ext cx="904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Eficacia del Filtro Estadístico: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regla empírica del límite a 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σ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probó ser un estándar robusto. Logra evitar falsas alarmas ante la agitación diaria del MERVAL mientras alerta certeramente sobre los macro-shocks reales.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1809750" y="4329112"/>
            <a:ext cx="904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Superioridad del Feature Engineering: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análisis comparativo demuestra que la IA financiera requiere contexto. Variables de interacción de mercado (correlación, ratios de volatilidad) son indispensables frente al simple análisis de precios.</a:t>
            </a:r>
            <a:endParaRPr/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34315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19087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343400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del Estudio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7103"/>
            <a:ext cx="3429000" cy="4636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87103"/>
            <a:ext cx="3429000" cy="4636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587103"/>
            <a:ext cx="3429000" cy="463614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962025" y="2720578"/>
            <a:ext cx="27803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Multi-ticker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962025" y="3663553"/>
            <a:ext cx="2647950" cy="202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Extender la arquitectura de predicción univariada a un modelo que evalúe simultáneamente el panel completo de acciones para identificar procesos de contagio financiero.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4772025" y="2720578"/>
            <a:ext cx="27803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Umbrales Dinámicos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4772025" y="3663553"/>
            <a:ext cx="264795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Reemplazar el corte estático basado en el período de entrenamiento por un percentil estadístico rodante que se actualice de forma adaptativa a la distribución reciente.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8582025" y="2720578"/>
            <a:ext cx="23602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Despliegue y API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582025" y="3263503"/>
            <a:ext cx="2648100" cy="19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Empaquetar el flujo de inferencia para procesar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stream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 en tiempo real, permitiendo la integración de un sistema de alertas automáticas para inversores institucionales.</a:t>
            </a:r>
            <a:endParaRPr/>
          </a:p>
        </p:txBody>
      </p:sp>
      <p:pic>
        <p:nvPicPr>
          <p:cNvPr descr="image.png" id="237" name="Google Shape;2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44303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2025" y="2044303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2025" y="2044303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Líneas de Trabajo Futuro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